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2d782bd04848e8" /><Relationship Type="http://schemas.openxmlformats.org/officeDocument/2006/relationships/extended-properties" Target="/docProps/app.xml" Id="R996dc1f32a4e4dc7" /><Relationship Type="http://schemas.openxmlformats.org/officeDocument/2006/relationships/officeDocument" Target="/ppt/presentation.xml" Id="R7e187879e2b9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4426865df4593"/>
  </p:sldMasterIdLst>
  <p:notesMasterIdLst>
    <p:notesMasterId xmlns:r="http://schemas.openxmlformats.org/officeDocument/2006/relationships" r:id="R178410fbaf5d4be6"/>
  </p:notesMasterIdLst>
  <p:sldIdLst>
    <p:sldId xmlns:r="http://schemas.openxmlformats.org/officeDocument/2006/relationships" id="256" r:id="R6fe298d77c36469f"/>
    <p:sldId xmlns:r="http://schemas.openxmlformats.org/officeDocument/2006/relationships" id="257" r:id="Rf5d57dce0c324606"/>
    <p:sldId xmlns:r="http://schemas.openxmlformats.org/officeDocument/2006/relationships" id="258" r:id="Rb3601e32fc404d81"/>
    <p:sldId xmlns:r="http://schemas.openxmlformats.org/officeDocument/2006/relationships" id="259" r:id="R0cc99d8b4ddc49c8"/>
    <p:sldId xmlns:r="http://schemas.openxmlformats.org/officeDocument/2006/relationships" id="260" r:id="Ra45c7baee0384571"/>
    <p:sldId xmlns:r="http://schemas.openxmlformats.org/officeDocument/2006/relationships" id="261" r:id="R083874475968452d"/>
    <p:sldId xmlns:r="http://schemas.openxmlformats.org/officeDocument/2006/relationships" id="262" r:id="Rf9d407763ca749a9"/>
    <p:sldId xmlns:r="http://schemas.openxmlformats.org/officeDocument/2006/relationships" id="263" r:id="Rec514980d9924f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4426865df4593" /><Relationship Type="http://schemas.openxmlformats.org/officeDocument/2006/relationships/theme" Target="/ppt/theme/theme1.xml" Id="R163e7bea8b58445c" /><Relationship Type="http://schemas.openxmlformats.org/officeDocument/2006/relationships/notesMaster" Target="/ppt/notesMasters/notesMaster1.xml" Id="R178410fbaf5d4be6" /><Relationship Type="http://schemas.openxmlformats.org/officeDocument/2006/relationships/presProps" Target="/ppt/presProps.xml" Id="Rf4a3a91d6e554189" /><Relationship Type="http://schemas.openxmlformats.org/officeDocument/2006/relationships/viewProps" Target="/ppt/viewProps.xml" Id="R37b12d0fef174ef5" /><Relationship Type="http://schemas.openxmlformats.org/officeDocument/2006/relationships/tableStyles" Target="/ppt/tableStyles.xml" Id="R5302e3304bc34cf7" /><Relationship Type="http://schemas.openxmlformats.org/officeDocument/2006/relationships/slide" Target="/ppt/slides/slide1.xml" Id="R6fe298d77c36469f" /><Relationship Type="http://schemas.openxmlformats.org/officeDocument/2006/relationships/slide" Target="/ppt/slides/slide2.xml" Id="Rf5d57dce0c324606" /><Relationship Type="http://schemas.openxmlformats.org/officeDocument/2006/relationships/slide" Target="/ppt/slides/slide3.xml" Id="Rb3601e32fc404d81" /><Relationship Type="http://schemas.openxmlformats.org/officeDocument/2006/relationships/slide" Target="/ppt/slides/slide4.xml" Id="R0cc99d8b4ddc49c8" /><Relationship Type="http://schemas.openxmlformats.org/officeDocument/2006/relationships/slide" Target="/ppt/slides/slide5.xml" Id="Ra45c7baee0384571" /><Relationship Type="http://schemas.openxmlformats.org/officeDocument/2006/relationships/slide" Target="/ppt/slides/slide6.xml" Id="R083874475968452d" /><Relationship Type="http://schemas.openxmlformats.org/officeDocument/2006/relationships/slide" Target="/ppt/slides/slide7.xml" Id="Rf9d407763ca749a9" /><Relationship Type="http://schemas.openxmlformats.org/officeDocument/2006/relationships/slide" Target="/ppt/slides/slide8.xml" Id="Rec514980d9924f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3459ed9fb564d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7c13d7b3b4b38" /><Relationship Type="http://schemas.openxmlformats.org/officeDocument/2006/relationships/notesMaster" Target="/ppt/notesMasters/notesMaster1.xml" Id="R68b6955b099f42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80af2ef0554357" /><Relationship Type="http://schemas.openxmlformats.org/officeDocument/2006/relationships/notesMaster" Target="/ppt/notesMasters/notesMaster1.xml" Id="R32ff0052d1cd40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8517fa0fab4c28" /><Relationship Type="http://schemas.openxmlformats.org/officeDocument/2006/relationships/notesMaster" Target="/ppt/notesMasters/notesMaster1.xml" Id="R5920070541f141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f264a8303a4cab" /><Relationship Type="http://schemas.openxmlformats.org/officeDocument/2006/relationships/notesMaster" Target="/ppt/notesMasters/notesMaster1.xml" Id="R7e2d952266f847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e0a9bfbc454f6f" /><Relationship Type="http://schemas.openxmlformats.org/officeDocument/2006/relationships/notesMaster" Target="/ppt/notesMasters/notesMaster1.xml" Id="Reb44688cd19d4d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c67d03320449da" /><Relationship Type="http://schemas.openxmlformats.org/officeDocument/2006/relationships/notesMaster" Target="/ppt/notesMasters/notesMaster1.xml" Id="R4564e57345dd43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43526df3584856" /><Relationship Type="http://schemas.openxmlformats.org/officeDocument/2006/relationships/notesMaster" Target="/ppt/notesMasters/notesMaster1.xml" Id="R9463e9199dc34f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7043b657d34790" /><Relationship Type="http://schemas.openxmlformats.org/officeDocument/2006/relationships/notesMaster" Target="/ppt/notesMasters/notesMaster1.xml" Id="Rad5751480d7e41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567bbf5824d9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77e822494404696" /><Relationship Type="http://schemas.openxmlformats.org/officeDocument/2006/relationships/slideLayout" Target="/ppt/slideLayouts/slideLayout2.xml" Id="R32b1572f478a4c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b1572f478a4c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fce85d7d014e23" /><Relationship Type="http://schemas.openxmlformats.org/officeDocument/2006/relationships/notesSlide" Target="/ppt/notesSlides/notesSlide1.xml" Id="Rd6852ca405db40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adf62538f40a5" /><Relationship Type="http://schemas.openxmlformats.org/officeDocument/2006/relationships/notesSlide" Target="/ppt/notesSlides/notesSlide2.xml" Id="R33151c1f1b294d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edac0b12bb4d11" /><Relationship Type="http://schemas.openxmlformats.org/officeDocument/2006/relationships/notesSlide" Target="/ppt/notesSlides/notesSlide3.xml" Id="R31931a54d33740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cd67c26608420c" /><Relationship Type="http://schemas.openxmlformats.org/officeDocument/2006/relationships/notesSlide" Target="/ppt/notesSlides/notesSlide4.xml" Id="Re3581945fa7649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43f4247a984bc6" /><Relationship Type="http://schemas.openxmlformats.org/officeDocument/2006/relationships/notesSlide" Target="/ppt/notesSlides/notesSlide5.xml" Id="R9b4ac93dd1524e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f3b30a2d8049c1" /><Relationship Type="http://schemas.openxmlformats.org/officeDocument/2006/relationships/notesSlide" Target="/ppt/notesSlides/notesSlide6.xml" Id="R169e7fdb621c44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a228ce18544da8" /><Relationship Type="http://schemas.openxmlformats.org/officeDocument/2006/relationships/notesSlide" Target="/ppt/notesSlides/notesSlide7.xml" Id="R9e131e444146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bef701758a4d9e" /><Relationship Type="http://schemas.openxmlformats.org/officeDocument/2006/relationships/notesSlide" Target="/ppt/notesSlides/notesSlide8.xml" Id="R31205dc67bb645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79C01-401A-49AE-962E-94A6CB1B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16E1C-3C41-4E06-BC79-7101B481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AEF4F-27EC-4BFB-835B-FEACC771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987BB-CD77-4940-AD7C-20D07658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59C22-87DB-4ABC-A349-C874BC95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0FE34-9677-4F1C-B4F5-F5FD6B59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005BB-91DD-4DC1-94BA-93219E1E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07FDB-907F-4048-BCC8-B19DB897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70711-5B58-481C-8CA5-CE8A07E5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6BE97-2441-4765-A5CD-8F0DB6A6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E929A-6C8A-40AC-9FE4-73B89DB3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79AA3-1F9D-4654-8BDD-FF81A844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78FF9-D7B7-4584-96BF-6C03C512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FF5E4-4D7C-4A79-8AD5-8CAF0BD0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6A79C-CBA0-42AA-818C-9EF38927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F05A1-7B95-4A7C-A024-D2561FA0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9849C-E125-4CCC-A6FD-004AD6D8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127EE-8CE8-4FE6-9A40-0127C97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E1F19-97FC-43DA-A3B2-A1A9D6F7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C580D-7C79-4AB1-992D-83CE840E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9C1E3-7423-44FB-9E87-16D37E5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08891-3EC8-48A0-8F91-DB3EA055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6AC83-14BC-4D27-AA3E-E53C7EE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D6B13-FA2A-418B-8D51-36D4E252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BD2B0F6C-1F08-4CF6-95E8-BA14A358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1F11235A-7621-4B5A-B885-16321D3C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CC"/>
                </a:solidFill>
                <a:latin typeface="Aptos"/>
                <a:ea typeface="Aptos"/>
                <a:cs typeface="Aptos"/>
              </a:rPr>
              <a:t>PRODUCT VISION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14209D-1F79-4F41-B6DA-C7073365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638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digital twin that lets members choose their best future self.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C30636-F4BE-41E8-B0A5-69BEA1C6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Counterfactual simulation turns longitudinal labs into an interactive planning surface, not another lab-result explainer.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71211-9F97-4A9E-A3D5-3A53257A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00100"/>
            <a:ext cx="3714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58879F-4AC1-4365-91C2-8725D1BB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5888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2EB5E1-7F56-472F-B210-B532E1CA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778" y="10096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DAFC6A-D1B6-42CD-A229-B382CE25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76438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B6C74-1045-4227-90AA-AF676C2C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568" y="10096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E2451F-9BA3-438C-99DE-60EAA218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66988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F61456-9457-400F-9E87-C0408469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358" y="10096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86547A-2031-4BFA-80EB-71037D9D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57538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BE2FFC-0591-407B-A00A-C3A3E21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148" y="10096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A9A406-DEC5-47D4-BBC0-44E382D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718" y="244786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E97537-574E-47F1-928F-E2B0A88E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389" y="171339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C7BAF2-2FAC-4483-9214-8DEAE9BE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556" y="26639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187B46-7936-4581-B8C8-697BE0FE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236" y="17789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D4E2CA-243C-4542-9025-38327110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014" y="184138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24E264-7520-46EF-AAC5-6DDBD73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671" y="245996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C98D29-8F6B-4FB3-838A-91FFE914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1050" y="217520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1F4FBC-CB44-4AAE-AA3C-5058E79C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826" y="173274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1BE617-BED7-4A55-BCDD-3EB2DBD4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244" y="18293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DAB1B2-F486-4230-8A0D-0B6F1480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672" y="177985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8BA04A-3035-42CE-8EF0-4EC4565E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814" y="200316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67144C-3176-414F-9743-1E707BF3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877" y="215561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54C34F-8DD4-4516-9D30-F81943F0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695" y="248367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2FA210-1AB2-4F46-B9D6-48EAAFF5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614" y="23386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88F836-CE40-4651-A31C-7D48ABA3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1800" y="23514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14FF2E-5A69-4503-ACC7-2419260A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063" y="235777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4DAD13-2C07-4659-AD8F-43A55781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708" y="185973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E317A7-5030-4F19-8AF8-8B0FA21B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169" y="221874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99A5D3-1D2C-4431-A595-1FA472F5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761" y="229487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891F74-9796-480D-8E4D-CF56EACF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692" y="197463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14068D-7C16-4D44-B988-6DDA580E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690" y="263440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5AEBC6-AF3C-4EDE-82F4-C24F9F48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36" y="194294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55CAB1-558F-4B80-92AD-4F2E4C46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116" y="26234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615746-172F-4D0C-AF08-8E971EB1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608" y="19097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5BCE94-6BE4-4DCF-9893-986EC0E8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257" y="248199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3F1972-C912-4C11-8ACA-FB9F3949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527" y="19098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75DCDC-366D-412A-8BC9-B65E144D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498" y="244347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DE9307-07AA-4F63-833F-3A43F597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164" y="22621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466B67-A95C-4944-B6B9-9480973D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217" y="23200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01665D-4D1F-4F16-B8D6-35C20760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850" y="206646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823863-760A-407E-B054-13E2122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48" y="263549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E910F3-97B0-41D6-84B6-1EA4C38E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778" y="201967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2D946B-C972-498A-BE76-F669F6D1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451" y="22500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EF3130-F8E2-4451-86D2-BD75304F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439" y="26201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50E9D0A-A2A9-43C2-8278-8E480B19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01" y="172231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3FB475-5CD8-4007-BD7E-92ADF50E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18" y="19386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64B364-016B-478A-974C-3DEF2D73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940" y="177671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46E8F9-959E-44F6-A0E0-E6E20D3A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855" y="19893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4D3C92-D71E-43F3-A616-97823178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85" y="213868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99C53F0-5411-4FD9-B99F-960AF2DD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120" y="222359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24FE48-E6FA-472E-9ED7-B7527F8D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705" y="270254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CD5D39A-D38E-4A12-9332-1E4C460A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153" y="18004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D40FC30-7154-4376-A182-A280632F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659" y="212171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8338571-58B9-464F-BA2F-DB6026C8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841" y="205465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78B49E-77E4-490E-A2CC-77DF0AA6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973" y="201025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E046BB-959F-4673-9CA4-C49206B4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619" y="165700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076464C-36F3-41AC-B1DA-F88D600C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965" y="146321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76B3E84-3829-4848-AEDB-073E2225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812" y="25060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E0622C1-9A73-4BCF-BE39-ECE83BB8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31" y="21508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A4C63A5-4261-4FA3-B1F7-E3EB7861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84" y="18619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11983E3-B2CA-43F1-9180-1DE4B166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039" y="268300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E002A31-0720-474B-B426-9DD6B61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817" y="175870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CEDBB07-070A-4B91-9563-9D4EB9B6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179" y="214938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E1EC801-1099-4B26-8477-30467A99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492" y="251130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73F3B12-E12A-4DA5-B6DA-43692CC7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920" y="196506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05A7D91-E1F1-4CDA-8156-70170CB5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450" y="208454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AAB5CEF-22D0-4FED-8B3A-FFD37A96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558" y="225611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1312872-BF1B-4E6A-A6C0-608443D2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994" y="23743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E0C0806-AB4E-471C-933D-6F6140AB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344" y="194557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4E2FF05-41B2-49CF-8E88-383BDC5C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262" y="187407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C70AAC5-52E8-49C3-B725-EC877587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693" y="23927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E6959A9-C8AA-448A-AC63-99B9BF21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333" y="255014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EEA4FC9-922B-4BD9-9D6D-4EFD5C1D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430" y="21008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54E9DE1-CD09-4D93-8B33-F7D9599A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673" y="181343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3F5EF4-38BD-422E-A934-4B2F4BFB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591" y="25028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F5FB6A-91F0-4E55-B1FD-E56D01DD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210" y="16762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FAD4CC-3342-4FE5-85DD-399B965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959" y="182915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F5EA9F8-94AA-4316-AB4F-44E062D7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140" y="284767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68275C2-945B-48CA-96E6-AA4BE646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236" y="27108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D459A32-04FD-4498-A3C1-8723B4CF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406" y="22120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B159BE4-016B-4811-AB27-371E3AE0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721" y="179131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7BFCC49-D2E9-4CF5-82A0-556625DB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764" y="18034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F7A1FE-A1A1-4C4E-83E2-446BD1A4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94" y="282856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8342475-74F5-4955-9AB1-06075F8C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078" y="194619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1387B57-F6E2-416B-9FC8-7164B9E7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032" y="20048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2D110B8-4C71-4E07-926B-86380A5D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044" y="267317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8B0F094-117F-4594-85F1-9F2437A0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570" y="22398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159B1D4-618E-429C-B7ED-9410548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36" y="212776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77D0C44-7C4B-48EC-B222-3E3157CE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5" y="256323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126DE32-D883-4DEC-B7ED-4C05DC4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262" y="196645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5107446-C96F-4CB5-BDDB-6512A0A3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952" y="172942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5E21C53-0F93-4F48-BEC7-E9F27DBE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520" y="186250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ACC9890-9F59-42F3-AE16-2E70DC1E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90663">
            <a:off x="8178546" y="2846451"/>
            <a:ext cx="43800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A8FA376-A8F7-484E-8016-0331663B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0241">
            <a:off x="8530590" y="2585847"/>
            <a:ext cx="49839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199835B-C908-43E7-B5DB-506B3C8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82053">
            <a:off x="8941308" y="2303526"/>
            <a:ext cx="58409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C8F014E-9351-41F0-AC47-FDAAC200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16628">
            <a:off x="9440037" y="1999488"/>
            <a:ext cx="63493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959E767-D1D3-4F7F-8C87-6923EC02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3599">
            <a:off x="9997440" y="1695450"/>
            <a:ext cx="54951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C3762FF-1581-4089-9193-CCCF2499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684" y="28035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0D2C941-3EE4-44F1-AEC1-B53710AC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728" y="254298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655AF8-DF20-4947-8C55-71B7D220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446" y="226066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FC23FA9-C7C8-45EF-81ED-473D3ED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175" y="195662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404FAC6-17E5-4E97-9908-80F7B7CE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578" y="16525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B3EB93B-A337-40D8-81F9-863C0F08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644" y="150056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B20C230-6C8D-4DA2-AE98-DD194099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864" y="1600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05B5C94-4BF1-487D-9947-2FB5F018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964" y="163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770D730-9A18-4B35-B697-BE6426A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814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CEFEB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0374B1D-1CA8-4899-A669-7E97575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4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7A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7A72"/>
                </a:solidFill>
                <a:latin typeface="Aptos"/>
                <a:ea typeface="Aptos"/>
                <a:cs typeface="Aptos"/>
              </a:rPr>
              <a:t>future-space demo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C081944-8AAD-4A7F-8EC9-4E4E1804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8145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6C9"/>
          </a:solidFill>
          <a:ln xmlns:a="http://schemas.openxmlformats.org/drawingml/2006/main" w="9525">
            <a:solidFill>
              <a:srgbClr val="F4E6C9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C0FC700-829B-4DCB-8B39-D8061DB1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48125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650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65017"/>
                </a:solidFill>
                <a:latin typeface="Aptos"/>
                <a:ea typeface="Aptos"/>
                <a:cs typeface="Aptos"/>
              </a:rPr>
              <a:t>Pareto frontier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4872F1C-CE72-4880-9FDE-D10A45B4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266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63716B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237A5D2-8148-4D76-B331-48D56EE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B18B51D-F704-4598-8C5E-4E91658A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12,000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B7377CB-E84D-4D50-8BED-D2FA4CA0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simulated futures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28FF8D1-7303-4A61-B813-E8B49983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6A29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6A29D"/>
                </a:solidFill>
                <a:latin typeface="Aptos"/>
                <a:ea typeface="Aptos"/>
                <a:cs typeface="Aptos"/>
              </a:rPr>
              <a:t>per member state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C064880-95CD-451B-8636-1D219750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53000"/>
            <a:ext cx="2266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63716B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5D9872B-A07E-4BC0-B176-82262DCC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6C740C8-ACF4-4CC3-A35B-10260E04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863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180d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E7B7D77-AB88-4BCB-918D-9181398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102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forecast horizon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09C06E0-51CA-4136-A10F-6BA66CE9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626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6A29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6A29D"/>
                </a:solidFill>
                <a:latin typeface="Aptos"/>
                <a:ea typeface="Aptos"/>
                <a:cs typeface="Aptos"/>
              </a:rPr>
              <a:t>biomarker movement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DD8CE73-8B4A-4A95-93AE-AF750CBD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53000"/>
            <a:ext cx="2266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63716B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672E8F5-196D-4E77-AD53-96BAD2A0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863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AEEE69A-CFBD-4113-A8F2-AA996B97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863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149F043-2B89-4543-B49F-C3CC7186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102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Pareto paths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0C00304-53DD-4EFC-ACDF-92C768DA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626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6A29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6A29D"/>
                </a:solidFill>
                <a:latin typeface="Aptos"/>
                <a:ea typeface="Aptos"/>
                <a:cs typeface="Aptos"/>
              </a:rPr>
              <a:t>outcome vs burden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C573D44-D613-4B05-8154-5D3180FA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2686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63716B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427B595-1BC8-44B0-8EEB-657F87B9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863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257DE60-EC38-4CB5-AE1B-6E6B5472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retest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4AC9293-5E97-47D7-8DF4-197D05F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305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feedback signal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3F3A44C-012A-4BCD-AE30-A05B8489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2305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6A29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6A29D"/>
                </a:solidFill>
                <a:latin typeface="Aptos"/>
                <a:ea typeface="Aptos"/>
                <a:cs typeface="Aptos"/>
              </a:rPr>
              <a:t>prediction error calibrates the twin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FD4EA48-9248-4570-B633-B2E285C5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6A29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6A29D"/>
                </a:solidFill>
                <a:latin typeface="Aptos"/>
                <a:ea typeface="Aptos"/>
                <a:cs typeface="Aptos"/>
              </a:rPr>
              <a:t>Best-Self Digital Twin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6D7F156-195C-4275-8513-7975C9EB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6A29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6A2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77308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30BDF3-4A8A-41D5-9C45-F6A055D6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734F2-A368-4199-9CCA-7CEDA0D5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D6C4C-FA5B-4B7F-A6DF-0FC668B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A8E20-5211-48F5-A52A-AE26CD44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470EC-F110-4AE6-A482-B23A5A0E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D56D7-511D-420A-83FE-1BB5C6E5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D6D3F-899E-45A0-9BDB-F75CD247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0766C-D2B6-410F-9789-CAF5761B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A95CA-8F80-4645-96C1-72D096B2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CC14F-9919-4224-AF9C-2FC2506E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4D64A-BCDC-4561-B12C-40F2D3F0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4CDB0-47B5-49E0-8B01-519841A5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EA874-BB3E-4301-95E1-EE6E14CE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7A472-53C1-45F7-8558-97228C4A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A85B5-8758-4077-892E-A1F79BCD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4148B-D337-4720-AAED-ADE680D0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9FE6-16E0-4EC4-BAD3-737D248E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7CD3C-CFE7-4A10-8AD8-DDAE514C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2D045-D68A-48F1-9564-D107ED74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34BB7-6397-4C55-B42D-9889D6DD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D1B55-5AEB-4B46-9429-BEE45B47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4522E-B63E-4FAA-B900-75C706F2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E664D-7060-4F35-9C7B-661978F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8BD13-B704-409A-A222-1DDE5D55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02E622C3-D903-4BDC-9592-0F82B3E2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A7A821CB-30E5-4708-9523-0A94758E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WHY THIS, NOT A CHATBOT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454C0-FA31-42A4-B61E-98AB4BAB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Longitudinal panels change the AI job from interpretation to simulation.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1E3491-2EA1-4983-9E9C-1FDA9B85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The defensible capability is modeling biological motion: how biomarkers move together, and how future paths diverge under different choices.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12FE2A-BDC6-47CC-A171-CB4DD6BF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50B838-5DA7-4CE7-BC00-8A0017BD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8309C-8955-4331-A86D-E5AAFB01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1. Snapshot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4C353A-21E8-4962-AA2D-636304B6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590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Explain one panel: ApoB high, insulin elevated, hs-CRP noisy. Useful, but generic AI can do most of this.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20CA1D-B7C5-4476-AF20-EBBF5086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D48030-195F-451F-BBB4-C960FB2C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288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8E22E3-1728-43D4-A56C-407F4F82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527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2. Trajectory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429387-0398-4DEA-9431-D05CB69F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38450"/>
            <a:ext cx="2590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Repeated panels reveal slope, volatility, baseline drift, and cross-marker coupling. This starts to use Function's data advantage.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CC09F3-61B7-4BE1-A508-39C8FBA3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8DDD5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C3DBC9-3745-442C-A858-DC340062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90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A003E1-04D2-4853-BC3B-B8AB7709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14575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3. Future space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160579-EAB5-46BD-8008-F0AB108E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0325"/>
            <a:ext cx="2590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Simulate clinically plausible futures, expose tradeoffs, and let the member choose the path that matches their objective.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13F194-F37E-4D78-9925-5E22824F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2422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D96979-A7AA-4902-BB5D-9A330716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881D54-D4C5-4D76-9E31-BABC9D4A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2422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880A0A-D8EC-4BD6-B1D5-E2D485C9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86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3DD8AF-D360-4573-8038-ACF3D215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EEF2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21BD83-FD2B-4AC1-9456-374B30BF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generic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332A92-4733-4296-A4A6-8BF990AD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4820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7A72"/>
          </a:solidFill>
          <a:ln xmlns:a="http://schemas.openxmlformats.org/drawingml/2006/main" w="9525">
            <a:solidFill>
              <a:srgbClr val="147A7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402784-2F4F-4AA0-B07D-2EFF2CFC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14875"/>
            <a:ext cx="1257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Function-specific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13719C-D7EA-459A-BC05-DF7BB4A8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9585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8664F"/>
          </a:solidFill>
          <a:ln xmlns:a="http://schemas.openxmlformats.org/drawingml/2006/main" w="9525">
            <a:solidFill>
              <a:srgbClr val="D8664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9D9472-C5B7-4AF8-B6BE-0E33F3B2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62525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magic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A0FA42-90DC-401E-84B7-45246900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Best-Self Digital Twin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8D074E-8E15-44F6-B829-37451679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85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82848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61309E-68C3-414C-B4F5-DAAFB1A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24390-F0D5-4FFA-842D-C158653C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93E53-09DA-457D-8FA5-107EF3F3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EBC40-489D-4343-AD84-91EC8861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36130-F806-476F-B559-0A4708BA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D51B5-F963-4AFD-B1A5-969E706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5A3F7-4926-4CE3-9AC7-A4453687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0828A-031F-408D-89D7-6C447A9F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69FAE-53C1-4DAE-BF61-2C65D86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F7B55-67CB-4C2E-B0AF-C8DC50CD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DE5BC-25DF-4860-BFDB-5B6B08E2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358FF-F22C-4737-A49A-40F82656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53A35-9FCF-4F17-AD19-C0173C8E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EE578-8E68-44B6-85B7-29B69292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1B237-E5C9-4FE3-A71F-5E9A5D3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81A30-4C88-48BC-ADD9-C49EDA31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78EE0-0978-403F-8B6D-857D6FCB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08EF3-0892-47F1-A543-1EA9C6A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A5F01-0C18-48EE-8056-CFED9890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D84C0-78FB-473A-9876-0B553D3E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446FF-AC5D-4070-A974-1FAB482C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AB049-35D1-4216-85C8-FEF44DD7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D930B-5785-4C31-A7CB-8FC497E8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11EB5-FC8C-43CB-8011-B86F6619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1053569C-8181-47B1-9EE7-0FBD782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10B8123B-7632-4A4A-8B87-4AC911B9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THE WOW MOMENT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E1A962-7907-4B6D-9D16-CD79F72F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Show the member a map of possible futures, then let them choose.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0DD02-A110-4D8D-9ECF-4D8EA61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Each point is a simulated 180-day intervention path. The frontier makes tradeoffs explicit instead of hiding them behind one recommendation.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EE299D-4898-4795-87EB-E59F5BA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953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D1679C-A726-48DC-AF86-E47729D5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0838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AF993-2ECC-4DDB-BD42-818B9F6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478" y="2400300"/>
            <a:ext cx="95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A5E20-0A7E-4C33-82A8-65714362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5688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C6C790-97D7-47B7-87DA-E75BA064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968" y="2400300"/>
            <a:ext cx="95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0D094-21E1-4C70-A2B0-A3E7CB83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0538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BC07DB-A272-44BC-B068-75E74D11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458" y="2400300"/>
            <a:ext cx="95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8B901E-E2FF-4043-8C73-B2A4509E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5388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3E7598-4B9E-46CA-83F1-8B844A25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2400300"/>
            <a:ext cx="95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4FE81E-7817-405D-9137-79CC6228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666" y="368076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ECC333-1C3E-4982-9C6F-62470FE7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226" y="420112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103A47-D4F8-4527-BE5A-F91CDEA6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582" y="353998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DF2DCB-93AD-4FA9-B9EE-ACF35651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294" y="358624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A702DB-308B-4D7D-A72B-466BA477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098" y="370736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B328E0-2845-413A-BFB7-82D2E2EC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671" y="448164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490921-30A5-47A8-922B-FD4B1AD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150" y="408315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A6CB54-BA1F-4448-8303-389B69E5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23" y="410309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DD8E64-25D0-4B90-8C21-B88D62A6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199" y="396756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F03E74-6C4F-4DB3-9C61-8F08E15C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566" y="32465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FEC6B4-986F-4D2D-A80F-8AA850B0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844" y="362387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7A5F29-8E37-47D4-B42C-D39C3155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464" y="351708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A6654A-87D6-4A6F-A0BB-0EF49EF1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83" y="495203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A999AF-8AAA-466D-A137-35CD46D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691" y="352361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FDECED-767F-4C72-86EF-478CEC39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926" y="425913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C76F98-953A-4198-9AD6-8F8BB991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040" y="358129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A24E36-A0A7-4883-8FF2-EB453B04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663" y="419727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753E1C-63AA-406E-A2EA-77EA863F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852" y="403496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AFCC65-62F6-4F4A-91E2-97A1105B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589" y="430932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0A9F47-96DD-47DE-A9A4-9713EFB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362" y="403441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38B3A3-5DD0-4925-9553-DFF07639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697" y="472287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799650-FA7C-4453-8921-F4AC8653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294" y="419782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6CAE34-3960-4B9A-B0E2-AD837EB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66" y="381438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F1B281-D83C-49DD-A7FA-44A3D2D9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023" y="419625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28E824-AECE-4FCA-A655-58D76F7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760" y="37342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C297B0-5E3E-4E11-B25C-24EA1CE4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216" y="410549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985884-3469-4B64-A109-47C906C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585" y="348944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6889CC-BF8C-4404-A2A3-4186258B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536" y="330790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0A160A-E652-4D51-9333-54A57E9D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225" y="420976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B2F69A-288B-4FC8-9EC0-9559E2B7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218" y="357520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80D058-ED83-453B-BE61-BCEF4DAD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981" y="354138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87F523-2BC3-42BA-9613-83FEA937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824" y="351881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5DB4A6-9B2E-4AC5-AA6C-80E28845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187" y="365114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811136-4CE0-4316-B035-B20A2D7D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096" y="453050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65DE23-88DE-4CAB-BB1F-1E06952E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97" y="363657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D5F4F1-A274-4183-9AA1-0A9D4ACF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366" y="34112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ABC8352-4614-4475-866B-E76F7D80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226" y="400562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DB9E0C-0102-40D2-BD1C-ACFED3A2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094" y="453925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31FCD54-DB4E-416B-8762-4E0A7574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287" y="366186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33D52A-F398-4F2B-A267-54CED1D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464" y="389728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A542B06-AE47-410A-ABAC-301F755D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122" y="39480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7320CA-579A-42BC-8306-B2E1C1B9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654" y="410046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8E6883-3615-436D-A7AF-1C085E39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105" y="385766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B7691A-7CDA-4E73-A202-639C7FE3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32" y="375631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1B6E09A-B724-4F28-ACDE-0BA6F0A7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13" y="33828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BA15E8-7F6D-4D33-AF31-F1FC125A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253" y="348653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253D94C-172B-4DFE-8697-7A024B0B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375" y="37439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1AF213C-5DDA-431B-9DA4-CC24089F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648" y="329100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E1E29F9-CE0F-4DAD-8210-3867F311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735" y="315304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2D9C4C-D8D3-4F79-BB8C-83A90D5A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842" y="368893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7FCDD8D-8D18-44B1-AC62-07761D95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670" y="426703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065E4D7-117D-4E0C-A268-114F6254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65" y="438176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35A4CC-DA82-448C-AB18-7B630221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788" y="397729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A63A97-C1F4-4A5C-8DE3-6656E71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629" y="338236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7C1FF9B-360E-41DD-8046-CCD5FC8C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592" y="366528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FCE4DA8-0401-430A-AF07-EE5A5CC3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531" y="43360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13034E-1EE5-4389-B8CF-66D71CD6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369" y="384124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9549A5-A1CC-4284-96EE-673510E5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009" y="35738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5B04C6C-6B2F-4FF6-BEB5-C363AB77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260" y="317930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A08A7C-3AFC-4337-9834-CA4FC548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301" y="330013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E807EEF-A25A-4243-8672-A0C206E3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488" y="322244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BD541D0-C899-479B-9BBA-8CB07C96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68" y="36182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B6919E7-03CE-4CDA-8ABD-8902AE69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64" y="385007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54619FC-28E8-43C7-800A-0226FF42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495" y="3470782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B57C5A4-051B-4FF3-B350-AFAF7E6D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773" y="332045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D13BCA3-F379-4563-A1F5-0B67949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036" y="345058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E3E32C8-F738-4934-96D9-AFA4F3A2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288" y="380074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5FCBDA0-7875-4C63-A7B3-78B6FA52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326" y="373696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468D4ED-6756-4FF2-B6DB-E1FC3608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386" y="324018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1EC213C-9E7E-4FB6-9B24-A63EB266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271" y="376953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7087532-E16F-4ED4-9299-74AA14E7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430" y="343910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46940D8-8872-4C35-8A1F-8D6D06BF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114" y="3208788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2FEAC37-2C99-4800-963E-D83CEF19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845" y="3375130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D167001-DECD-459C-AA4C-AF2044BB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43" y="3530504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3384BDA-1BEB-45FC-9942-B5A530D1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112" y="379878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B659BE9-4F54-4D0B-AE93-D83BFCB3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061" y="3491317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0722D87-7629-4EE7-BBBC-B21A37FF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637" y="400694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5C0CB61-FC7E-4772-A4F1-7D5B85BA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011" y="352575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1637302-6159-41EE-80FB-C3BC70AC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300" y="3804626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6692C12-D59A-486F-98C5-E75C25E1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68" y="4370229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C77A0D-7C0E-43A6-AB1D-45E0709F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771" y="4408653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8624178-95E9-4C71-8C6F-0B632A4D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607" y="3411505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5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AF9955E-2F3C-4791-B27D-99D43829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37749">
            <a:off x="1579626" y="4682871"/>
            <a:ext cx="81052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4F47DC0-5A69-4629-A9D2-50B121D3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45552">
            <a:off x="2320290" y="4353687"/>
            <a:ext cx="93480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2DB9722-5707-487E-9704-0F23328D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6197">
            <a:off x="3184398" y="3997071"/>
            <a:ext cx="111734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A8EEA9-9D6D-4975-A3D2-DD1B1B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7972">
            <a:off x="4233672" y="3613023"/>
            <a:ext cx="123400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551C4FB-9513-47C1-B9A4-55681326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8366">
            <a:off x="5406390" y="3228975"/>
            <a:ext cx="112746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7C0CFB9-5EC1-4035-9431-75BA2DB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764" y="464000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D0F641E-F0B5-41B0-AF79-753DC6FD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428" y="431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B5BDEA6-4374-4E0B-9A5A-B7C32CAF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536" y="395420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E89E90-9103-481B-8D15-71EC0B6C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810" y="357016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ABD2D-A410-47FF-9222-3C70B7E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27" y="31861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E088174-0B0D-4430-AE24-56C32DFE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524" y="299408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6CCCA57-A41E-4222-A6C0-BA5F8125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584" y="31337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535A98D-EEDA-404D-825B-E4DFEFE3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684" y="3171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4260E48-14DE-42E0-A83F-25F990B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higher best-self score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6597602-198A-4FD8-9C35-507E003A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7687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intervention burden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F0BB369-7BB9-41F7-B76A-ED81B35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85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60E5ACE-74C9-4205-8A10-F06FC1A9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16053F4-6D72-437B-A268-5EFE28BD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x-axis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3F637D6-27B6-4C83-A9A8-8628C650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intervention burden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957A194-6293-4536-99E2-858C46C5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meds, effort, adherence load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4F73F47-E385-4073-89F5-9028F03B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285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EEF7247-9D94-45E3-9DC0-7B1C17EB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870047F-37DA-42B3-91CA-156E02C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y-axis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3ABE358-2BB8-466C-9779-74D2C713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best-self score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F6B71D1-C872-427B-82CA-6499EFD8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forecasted biomarker improvement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29208BA-DD94-4D20-8D0D-7DC7929C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285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9C22E35-9110-41B5-BFAD-1BF3EF17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075D384-04FA-44D9-B413-56C9EB4C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0A3E410-1369-4911-B095-62DABC05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Pareto frontier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6B7342F-1513-4C2A-89A9-B705766C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2514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best outcome at each effort level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171B777-26D6-43CE-9FE3-DF61915F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443062D-E2B3-47FA-98FC-A296C405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34000"/>
            <a:ext cx="2781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1D"/>
                </a:solidFill>
                <a:latin typeface="Aptos"/>
                <a:ea typeface="Aptos"/>
                <a:cs typeface="Aptos"/>
              </a:rPr>
              <a:t>Click any future to see projected ApoB, insulin, hs-CRP, ALT, and omega-3 curves.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3E5130B-4C05-4075-A066-3A6E138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Best-Self Digital Twin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6A874DD-57F7-415D-AC21-5F333D9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85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19589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E265F-9E4D-4163-91C8-57BF958E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0719B-8CFF-4E61-BC1D-9B549708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A28C5-AE72-489F-BB51-7E7AD40F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20101-9C50-4B78-828C-8717C591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8BE3E-8A78-44E1-A84D-B461C2F1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C9FFB-70C1-4B7B-9517-6EDEB850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2F7D0-63A2-409D-862F-A9D2B91A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E4AF6-F9CF-4AC4-9F8E-2EBF5B18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5DD6A-7F09-4E27-AD74-BC730251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E1844-3299-40E2-9AD8-77FF06A6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DB900-F82A-4997-927E-37359867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CE50F-ED70-4901-BBA6-B8D0454D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06BC9-8EA8-4097-A0B2-7BD7DEEA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DA2D5-5F2D-4F10-8576-8EFD3624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B528B-A45C-48B3-84F8-E78CBBC8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7128D-D552-4484-AF5D-EC7D3074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59065-A33A-4998-BF71-55BF3D1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26C6A-8B91-4A9F-A704-912DD3A8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2A6A3-AC95-4FE3-9E7B-0808263F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3BF6F-694B-4159-AC60-AA07E4D4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C0BEE-E573-4884-9AE6-D3826387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37C6B-0CAB-4FFE-9F07-06105BC6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9318A-9552-4654-8998-BCDD569C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269C6-6530-4874-ACC7-236B278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6E939123-8259-4484-90FE-1E02C6F4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57FF61D-11AC-4BA7-A6C8-30F5245E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LIVE DEMO WALKTHROUGH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2147C8-39D9-49D5-BFD3-BA3D0E44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The interaction is values-first: users pick the future they can live with.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C5B9A2-9635-40F0-92DF-90C57725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Walk the Head of AI through objective switches, then show how the forecast changes.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4211F-6F9C-43C3-A2DD-15DD23C3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905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AD597-C9A6-4755-95E1-70AC3A5B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13770E-2EFD-4BE2-AFC5-F22A716C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Best overall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D40F4E-0E6C-48C1-9BE4-74CC11F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Balanced cardiometabolic improvement.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D06AB4-E2AB-4B7D-BD3B-88542CEA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194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C9667C-393F-46E0-BA77-14C7CCA9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1905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20FFD9-E7A7-46B0-9088-ECDC1DF1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9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6D60CE-6D02-430F-B6F2-80B75436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33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Lowest burden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9923DC-4766-43F2-AD13-33AA5FFE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19400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A smaller plan the member will actually follow.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CA3A88-C4CA-41FD-85A3-84C8B7DC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194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67F989-C43B-4302-A9AF-F7C97793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66950"/>
            <a:ext cx="1905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D97400-5525-44AC-BF70-F6995480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9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1F45DC-6E0A-4908-AF87-565DF279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33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No-med path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1951FF-6742-44B8-8C69-A3742B54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19400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Constraint-aware simulation, not moralizing.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3F1400-A500-4CDC-A931-F435A9B1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194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863782-A130-49F0-87E9-5EAF476A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1905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7967F1-63D1-47F1-9843-5554282C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9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948314-5AA0-46E7-9049-C08F3E3B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Fast ApoB drop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BFE482-F344-4445-8FDA-E13CBB9A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Outcome-specific optimization.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3D3084-8DB7-4CAA-BD94-7232A8A4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194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486400-75FE-4B8F-8C6B-1C85C70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66950"/>
            <a:ext cx="1905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9D7C91-DCF0-45FE-B3F5-12CD5E7B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9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3F7F31-E9AF-4F3A-A46D-1E5811B8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336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Maximum change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EF121E-9D80-42F5-91BC-98702B04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19400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Biggest movement, highest burden.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9340E7-8A01-44DE-9911-59FF236B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48387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7201D"/>
          </a:solidFill>
          <a:ln xmlns:a="http://schemas.openxmlformats.org/drawingml/2006/main" w="9525">
            <a:solidFill>
              <a:srgbClr val="17201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E83ABB-B1FF-414A-9450-99EB3D19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Say while clicking: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0D5446-9F18-4314-A64B-1BE4FF4D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“The twin does not claim there is one correct future. It exposes choices: speed, medication preference, effort, and confidence.”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403402-1F92-46E5-ADAB-DFCD860B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4333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31D0B5-CD5F-4A17-A2E2-F176B851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DDD5"/>
          </a:solidFill>
          <a:ln xmlns:a="http://schemas.openxmlformats.org/drawingml/2006/main" w="9525">
            <a:solidFill>
              <a:srgbClr val="F8DD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157141-C3F1-4545-AD6F-F81D4F9F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00575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66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664F"/>
                </a:solidFill>
                <a:latin typeface="Aptos"/>
                <a:ea typeface="Aptos"/>
                <a:cs typeface="Aptos"/>
              </a:rPr>
              <a:t>selected forecast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D7F9BD-F37F-4D9E-B4AD-2C921262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4D"/>
                </a:solidFill>
                <a:latin typeface="Aptos"/>
                <a:ea typeface="Aptos"/>
                <a:cs typeface="Aptos"/>
              </a:rPr>
              <a:t>ApoB -31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2C0B6D-C74A-427F-87E9-E5F3E9AE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53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4D"/>
                </a:solidFill>
                <a:latin typeface="Aptos"/>
                <a:ea typeface="Aptos"/>
                <a:cs typeface="Aptos"/>
              </a:rPr>
              <a:t>Insulin -6.9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E2DB2F-7AD6-4785-B1F4-90C611BA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4D"/>
                </a:solidFill>
                <a:latin typeface="Aptos"/>
                <a:ea typeface="Aptos"/>
                <a:cs typeface="Aptos"/>
              </a:rPr>
              <a:t>ALT -10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4B83F8-9CAA-40E6-A055-FF816251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Synthetic example: selected future vs no-change baseline.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FC7698-B4D2-43EA-9968-C0050BA5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Best-Self Digital Twin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F3BAAF-380E-4F7E-BA70-0872F238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85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90076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C163F-5EAB-4FC1-A320-415B0DE5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A7F9C-9924-492A-A99E-B10E805D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2CE24-0FEE-40BC-B86B-C5CE0E1B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9A978-F415-462C-9050-CEA4C69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6C221-5ECF-4661-9494-51D3D0CA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AFF6F-6352-4D11-8C72-95550B57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62F54-BAE5-413F-ABDE-AA02A952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A45B0-D3E4-4260-928D-475A2FD0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A4A1F-0810-4C8D-88FB-E0CDA997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B7F63-66CA-4CB5-9676-9D939133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5AEB6-32A1-45A6-9588-D83664E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B9CBA-4E37-44A5-882D-FB7E0F3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54BE2-EB72-4731-820E-ADBC8A0B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CADDB-E8A4-40AF-8C19-9D50520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90A41-F8CC-411E-AE8C-9E7DCEF1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8AC26-E60F-43C5-8B40-5C606C2A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36C3C-5E7F-4410-B037-B90D7EB2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FD402-FFB6-4F0F-81B9-09036B3B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34513-F11A-46E5-AF28-12A34A78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ACB20-165A-43FD-91B9-3D5722B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7C8CC-7D87-4500-9526-B8CB97BB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6F3ED-4526-4D8B-AB33-B8EEB138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DDAE53-A512-4CC4-99E0-5D48F1E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41A92-40DD-4EE8-B8FF-D3D5B7A1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65A2B6CB-BFD1-46C1-819E-AFB900A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7DDC3EA1-2D6C-4D22-8663-14EB5695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3C00B-A9E3-4B83-BB87-7AC170A7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Under the hood: a counterfactual world model plus multi-objective optimizer.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B5F7F7-FCB2-4081-82CC-545BD2C0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The architecture is narrow enough to validate: measurable biomarker dynamics, explicit uncertainty, and clinician-constrained action classes.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3A89EB-F114-4B2A-A2DF-4CCA46D3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073C2-16F7-46B6-B1B4-68A4B9C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FE8978-F4A5-46DF-9D4D-EF853218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Longitudinal panels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66B5FF-D5A9-4EFE-9591-6F5E886F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Levels, slopes, volatility, and cross-marker movement.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61FBFA-82FC-49B3-A0E4-195B92F5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1564AB-39C2-4DB0-920F-8CE2AD5E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860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0F4DB-0314-4F42-84EC-70374C9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98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Twin state encoder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8571FE-2449-42C7-AA57-35E41BFE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Latent biological state calibrated to personal baseline.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0CFC27-1190-4209-AD1A-9DABB147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BE9F6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0F5E1F-DB81-4461-B5E1-50F28228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860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2182C1-B6CB-4B58-BD8A-E622B43A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World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123077-EB0A-4B75-A6A8-91929D93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95600"/>
            <a:ext cx="1733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Forecasts biomarkers under intervention mixtures.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0B60AF-BEDD-41B0-A27B-3FEC3C2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431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E6C9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C685C7-B024-4B24-85C0-FB2490B2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860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EE9B29-3FE1-478B-9AF8-3B7D7B3E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Optimizer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53B16F-4205-47D8-A3A4-09495524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Surfaces frontier by outcome, burden, and constraints.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147BAA-1F93-41F1-A4C1-3BEE295C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DDD5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BFA2E7-CD41-41FE-B0F9-CE9B980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860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37B560-FF5C-4819-A7E3-1EC6514C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Plan + oversight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6BAFF7-23C7-4E2D-8858-CA123990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1733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Member-facing options with clinician safety gates.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2312CF-F3EB-4F1D-BA6B-90B35185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48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9427DD-C0C3-493F-82C2-636AE89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099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217C33-3867-41B3-A0E5-4B8038D2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BC5783-C332-4DB2-9F4F-43EA48CA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99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76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FB3653-3F59-44EA-AFC6-877B2E39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B401CF-FE94-4A73-8738-BDC99BB1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099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B9C312-220D-4924-A8F4-329801C8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C2EA84-B573-46A1-9DF1-2240DDF6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099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E5B108-A167-4C91-8183-99E22252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76750"/>
            <a:ext cx="6400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01D"/>
          </a:solidFill>
          <a:ln xmlns:a="http://schemas.openxmlformats.org/drawingml/2006/main" w="9525">
            <a:solidFill>
              <a:srgbClr val="17201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B1C994-A3EE-4FF2-86E1-2075370F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Feedback signal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D786E1-4008-4D8E-81DB-5E723A66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5572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retest compares predicted vs actual movement, then updates the twin and cohort-level response curves.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CE7DBA-DB5D-47F5-B4A5-EE5DD22C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Best-Self Digital Twin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55B7A6-CFE8-46A6-9B34-69EA890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85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24854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5239FF-A323-49A3-AA85-0D6EA1E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B6F24-7523-4987-8C06-00A964E3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DC83E-1856-4B39-B857-27C419BF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88EF4-FA0A-412E-B4BD-9B4FB652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4798C-B909-4765-A2B5-2731D25E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C4B27-0D46-4525-9E52-1C86CE18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6DE00-515A-4831-9F0D-83B8B923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B7AEC-7BEC-42D0-BF02-91A18C5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4FE88-3D84-42FA-82B9-E9946778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93629-54A2-4D85-91B3-FB29175A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99A40-D5AB-4159-94D4-D4482C53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66BF9-4A40-49B5-BB78-E5E7881B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9A42D-16AA-4FC6-BB82-2861282A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CBE44-F590-4984-BC5F-FEF2AA33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E37B7-0696-448D-9BB1-F57D095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78A33-96A6-4A1B-98B2-D3B37065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42689-BEC5-40C3-8D58-6EF784E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B5327-00C4-435C-AE97-012A331D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55D98-9AD0-4378-A1E5-75421367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560A1-001E-4CD4-9E1D-26FF1BA8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25C04-EF55-4A04-B147-7F0A8C57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139A0-EDE2-4C76-809D-4484FAB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B3AB2-34E4-4A92-9ACE-C9D47621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2AA71-FA0B-4F4E-96D4-A9C6FDA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8D13340-5317-4EFA-BDE6-525F21A5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C0E03376-731B-4B9D-8E45-694601B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WHY IT IS DEFENSIBLE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BF199D-7E84-41A6-8963-43E0AE07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The moat is not prediction. It is prediction error at retest scale.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ACC717-7B58-4CAF-AFF6-3ED670AA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Generic AI can explain biomarkers. Function can learn which simulated futures actually materialize across repeated member panels.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7F7FE-B7DA-40CD-AE54-819CE0DE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71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038AE8-D71D-491E-BCF6-063E7BCF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52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2C27FD-5E5D-4C8F-8C63-9D46C5ED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DD8C4B-816E-4728-AF85-6E22870E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new labs + history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D1D0BC-4797-440B-9383-0C1CE56A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7E315E-58F0-4AF3-A346-12E961D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A8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D3E70C-8748-45D9-8CC0-BDA6F32B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Simulate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9C38A0-3749-4BA9-A415-BC40CCC4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12k plausible paths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CA2C9D-9CAA-4ACF-B820-DCD57EA8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577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F853A1-FB4B-4BFF-90CD-C0DB402C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3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64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38A3C8-E61E-4197-A145-4FB7BD38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8167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47BDEB-DDC6-4D32-99B7-4E137941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293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member objective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6F67A0-F124-413B-8417-CAADC6E4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577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EA002B-4F9B-4FB9-88E9-B7BF939A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09263C-4B33-4F32-8B97-E0ABA790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78167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Retest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CF4B26-7B5B-40FB-A213-534BA848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0293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actual deltas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900E55-7B5D-4C9F-AD8B-811F5BBC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19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5015EE-A8DF-4FAA-98F2-40E35191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D">
              <a:alpha val="10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9DAE31-89B6-45F9-A534-27A89E31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5433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Calibrate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FC9FB0-EB43-4B27-A99F-218FECC5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90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prediction error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226CCA-ACDD-4F83-810A-46863288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1D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71D7CD-260A-4D13-ABDF-E1EF9211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19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72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B4426F-2B54-45DB-8B24-51AA09B8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480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learning health system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E8B2AF-21A7-47AA-B36C-424D02E2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3692AE-A4CF-4E93-9543-EDDBCEE5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479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39A092-B1BE-4E30-B03D-37C3AB50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closed loop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F49595-3580-44BB-91C2-B9300AB5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not a static model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5EA0C5-47C0-4D7F-AEAA-02F507DD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simulation improves after every panel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4DB937-3F0F-4AE9-9616-C7ECA62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EF16CF-1737-4D8B-B91C-43B18AA8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766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94F616-8815-4D22-92E8-BE7F700C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personal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2B3A86-82EC-4C95-AAB3-AB93BA86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baseline-aware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4803AF-16F2-40F9-8873-4556A1D5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member-specific drift matters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DAC7D2-952E-4410-A4DC-148F482C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DD5460-7501-4912-A4E9-81848401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053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B9FDA4-4846-4B81-83D5-471002A6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053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cohort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2B674D-C104-4D43-869F-2531200A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291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trajectory neighbors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C44EC2-05E5-4458-8CD1-9F25FE29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81550"/>
            <a:ext cx="2133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similar dynamics, not just demographics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B781EF-8DB6-4681-ADFF-3FA62B5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Best-Self Digital Twin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8DE5A0-5CF4-43C5-863D-7FE6A5D3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85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5208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704256-8798-4D7F-BCA5-23719B4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F1A41-9564-412F-A2F2-FE5E5117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05F8E-DB48-4E97-A515-A33BFEDD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C3B0E-D39E-49E5-959E-16FCC854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1BDC7-A86A-4AE7-B584-A7FFF92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8C034-8A5D-4144-AA5F-ED5B9F11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00CD1-C02D-443D-A3AE-E46A8600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5746E-7858-4C49-9EA8-27325D54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94B3D-843F-4587-88DF-62739D66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1EE59-7333-4E49-9017-7FD39832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64EB0-BB0F-4AD5-9BFD-79D97CBC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95F6B-DBED-4B33-A7DC-AD4CBF12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96EBC-0C81-4F77-90FE-C03BDCAD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707-E1E9-4BDF-BE6F-139735B7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7B501-BA85-4A74-AC2F-2460A657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F785C-CD55-4B2D-B7AF-1CB0FAA1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39264-14C9-4FB4-9D5E-D73F0A62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2F5DE-B5D2-4127-9236-9DB71332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B713B-A8D2-470C-8CEE-AEE35547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ACCB4-AC84-44C7-B3FA-38498613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5F0E7-0EBC-46B4-B352-5C24F510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F8F49-9B49-41B4-BAA2-BAA0710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36BA2-52A1-45C9-8C17-703E2756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318F7-E611-4B58-B020-0AAF568C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8A60AFEA-DB7F-4B1F-B109-E4C67BF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344A1288-D1AD-4F0C-A36D-A061F6BE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63"/>
                </a:solidFill>
                <a:latin typeface="Aptos"/>
                <a:ea typeface="Aptos"/>
                <a:cs typeface="Aptos"/>
              </a:rPr>
              <a:t>CREDIBILITY AND SAFETY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8EAD42-9316-4EB8-824B-3CC4AAE1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981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The credible version is constrained, measured, and clinician-aware.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4B7F78-F74A-47A1-BFAF-2C28C25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Do not pitch autonomous medical advice. Pitch a biomarker simulator with validation gates and safe product boundaries.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70C7A2-6390-4900-BE08-AC63D173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7A72"/>
          </a:solidFill>
          <a:ln xmlns:a="http://schemas.openxmlformats.org/drawingml/2006/main" w="9525">
            <a:solidFill>
              <a:srgbClr val="147A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AF454F-E499-463B-B070-3AC8CA8A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E3846-E675-4B3C-815C-59FB6F03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33600"/>
            <a:ext cx="733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C20EDC-11A1-403D-B9BD-21E6DE3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860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E7522D-3C9F-415C-9199-35017A9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38400"/>
            <a:ext cx="676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Retrospective backtest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B16178-04A6-4837-91B3-4DF09A8D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67000"/>
            <a:ext cx="676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Forecast held-out panels; measure calibration and directional accuracy.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4719A0-6415-448F-80FB-9071758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76FA8"/>
          </a:solidFill>
          <a:ln xmlns:a="http://schemas.openxmlformats.org/drawingml/2006/main" w="9525">
            <a:solidFill>
              <a:srgbClr val="376FA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6A2129-405C-4BC2-8BDF-05764706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F53799-261A-4968-8C06-81CB054D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733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77923B-7659-4E2A-9136-04312F5B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90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568BC3-35BA-4AC4-AB7B-22396289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676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Off-policy evaluation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53DC79-462D-4D53-9C88-4E3A497F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1850"/>
            <a:ext cx="676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Estimate intervention effects while controlling for confounding and selection.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F81928-FDD1-46AD-B769-1588B6F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0EB9CB-4484-4AF1-980C-D40C5CC5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B8C333-726B-4B50-9B00-5CA89E2F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43300"/>
            <a:ext cx="733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3715B3-D9E2-49D6-A3C8-F1F8953E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957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6E6ACA-E7C3-46E1-B03E-B7CE9CE0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676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Clinician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1A1D20-056D-41EC-BD88-B761A49D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76700"/>
            <a:ext cx="676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Constrain action classes; surface contraindication and escalation checks.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9DC396-864D-4FC5-B847-992F7D7B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8664F"/>
          </a:solidFill>
          <a:ln xmlns:a="http://schemas.openxmlformats.org/drawingml/2006/main" w="9525">
            <a:solidFill>
              <a:srgbClr val="D8664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DFCACE-BE4E-4B9B-8609-72563EEF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C8FA52-D0A5-49AF-8A2A-02ABC471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733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D55379-BA2C-4D18-838E-B2D349F3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00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66DAA6-D4BB-4CCC-AB67-6D9A855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52950"/>
            <a:ext cx="676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Prospective pilot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56EAAD-8AA4-49C8-9BBB-C5334150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81550"/>
            <a:ext cx="676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Run member-facing simulations with clinician-mediated recommendations.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DBAC82-3EA9-4603-BC38-6271E6A2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201D"/>
          </a:solidFill>
          <a:ln xmlns:a="http://schemas.openxmlformats.org/drawingml/2006/main" w="9525">
            <a:solidFill>
              <a:srgbClr val="17201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DA8A53-894E-41E9-A88A-70DAFF2A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236537-1478-4B10-BB05-2A703AEE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733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D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E79C01-674C-45CF-BB6A-22716E9B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054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29884C-52A7-484F-9E9F-DD3C40F9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57800"/>
            <a:ext cx="676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Production guardrails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0B83E4-B253-45CB-858B-7F55AFF4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86400"/>
            <a:ext cx="676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63"/>
                </a:solidFill>
                <a:latin typeface="Aptos"/>
                <a:ea typeface="Aptos"/>
                <a:cs typeface="Aptos"/>
              </a:rPr>
              <a:t>Monitor drift, subgroup performance, uncertainty, and safety events.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075295-924C-4136-AB61-13630413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1809750" cy="33528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7201D"/>
          </a:solidFill>
          <a:ln xmlns:a="http://schemas.openxmlformats.org/drawingml/2006/main" w="9525">
            <a:solidFill>
              <a:srgbClr val="17201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56CB9F-320A-47EC-91A0-72A50864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57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Say this clearly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A412A0-8408-4CF1-B92A-172E91A7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38450"/>
            <a:ext cx="13525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“This is synthetic and not medical advice. The production system would be clinically constrained and prospectively validated.”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33ECDC-9FCA-47DE-8E1A-A261089A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0"/>
                </a:solidFill>
                <a:latin typeface="Aptos"/>
                <a:ea typeface="Aptos"/>
                <a:cs typeface="Aptos"/>
              </a:rPr>
              <a:t>Best-Self Digital Twin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BC904B-231D-4E90-930A-6F3C72AD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A85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85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11033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7E0A4-251C-448C-8AD6-7E7E6AD9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A1559-C43C-4D06-B89F-B49609AB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D1BE0-C4B5-4E05-B87B-78E4F958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D3A59-6823-4647-8C14-85CF0C88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B543E-36BE-400A-8C87-12686969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759C0-75DD-4BCF-8ED0-4674F51A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0D5AD-900A-4183-B3B9-7DF5F50D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D8F45-7A46-4A30-A4EA-7E7625F7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D2CA6-B154-4F3F-A80C-FAE88C35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22F02-D2FD-4D6C-AB58-D8C097CB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B3143-7528-467A-9E5A-4C450894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C60C1-DAAB-48D9-8D6A-97135ED7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4D4E3-72F7-42BB-9816-77740F0F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3372C-5DF0-4686-86B2-A9C8B5FA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C4150-8BCB-4BAA-A8E1-126CE2AB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8A91D-D72A-45B4-ABED-DDD9ACCB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7B564-E846-41B5-BD10-5A4B47AB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3072F-E638-45A9-9011-947C606A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C2705-42A6-43D0-B802-AB4CCA3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2B347-5DFA-4CFC-B9BE-3D577C8C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45ECF-1C82-48B8-9636-EAA141CB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F0D24-6E51-47E7-98D2-8BD2993B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16520-1B58-4E62-99E1-78CEA369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8897E8-3B69-4929-ABB8-C81662B5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CB81427D-B262-4256-B9D8-AFF56D14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D749CB0D-2B89-4119-9870-716339D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CC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2FBB18-348E-406F-B47E-DE52DC57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9525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chatbot explains your labs. A digital twin lets you rehearse your future.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D47D06-6347-45E9-A745-DB5AD0F3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647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Then every retest teaches Function whether that future was real.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6FEB8-FD1A-4130-B24B-186A72DE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238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202B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965CA0-E35A-41C3-A3CD-7113F107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Walkthrough move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AD2E7-5AA4-4EED-A8C8-EE3C43A0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428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 12,000 futures, switch objectives, then move one what-if slider.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E8A75D-42ED-4C4C-AB88-C7DFCD56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202B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A24034-CF99-48B6-92C0-877DB7F4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19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Technical claim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38B6D-F0F0-4B7E-913E-BB4FD7D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624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World model plus multi-objective optimizer on longitudinal state.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3C86C0-FFB9-432C-843C-F0308DA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3238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202B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1263D2-8969-4EEF-AC9C-DF48D88B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Defensibility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2F2948-7550-454B-B9AB-D1286D2D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624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retest converts prediction error into a better member twin.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396C07-9CE0-4D61-B5DD-20E2AA8B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6371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6ACC92-090D-40EB-B0BA-86B8440C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13B6C7-5CDF-4910-823A-C73E108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4391A8-7D04-4B72-A286-5956CF62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4835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what happened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8D3A3A-7CCC-4CB0-AD75-F74D557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9115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63716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3289D2-E577-481F-A175-ED4714DD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9EEC8E-50CE-4474-A439-18D44D47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245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trajectory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E65516-EAF9-4A68-969E-6600F916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84835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what is changing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FD8233-821B-4FC7-B567-CC10A5F6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9115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63716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77703E-9981-4689-8960-375138EA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245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6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ECCC20-5B0C-43CF-9908-85FC3B8E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245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EBB8A4-F5E6-4FDF-AA42-BA694EE6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84835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what could happen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10A796-4D13-4451-84F6-FEF9CBC5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9115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B27"/>
          </a:solidFill>
          <a:ln xmlns:a="http://schemas.openxmlformats.org/drawingml/2006/main" w="9525">
            <a:solidFill>
              <a:srgbClr val="63716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6542BF-7B36-4C3D-85E1-711CB02B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52450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8E30AB-F3E9-40AB-BC8C-C1EC4D92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245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retest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227B75-2E5B-4C17-A9A9-ED545C80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4835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EB9B4"/>
                </a:solidFill>
                <a:latin typeface="Aptos"/>
                <a:ea typeface="Aptos"/>
                <a:cs typeface="Aptos"/>
              </a:rPr>
              <a:t>what became real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0EBD39-586A-4EC3-AE86-8B94B04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6A29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6A29D"/>
                </a:solidFill>
                <a:latin typeface="Aptos"/>
                <a:ea typeface="Aptos"/>
                <a:cs typeface="Aptos"/>
              </a:rPr>
              <a:t>Best-Self Digital Twin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9AE4F8-5862-4BDD-A82B-1D5B610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77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6A29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6A29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42194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2026-05-28T08:33:57.5750000Z</dcterms:created>
  <dcterms:modified xsi:type="dcterms:W3CDTF">2026-05-28T08:33:57.5750000Z</dcterms:modified>
</coreProperties>
</file>